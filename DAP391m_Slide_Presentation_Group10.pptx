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50" r:id="rId1"/>
  </p:sldMasterIdLst>
  <p:notesMasterIdLst>
    <p:notesMasterId r:id="rId24"/>
  </p:notesMasterIdLst>
  <p:sldIdLst>
    <p:sldId id="295" r:id="rId2"/>
    <p:sldId id="257" r:id="rId3"/>
    <p:sldId id="258" r:id="rId4"/>
    <p:sldId id="259" r:id="rId5"/>
    <p:sldId id="282" r:id="rId6"/>
    <p:sldId id="280" r:id="rId7"/>
    <p:sldId id="260" r:id="rId8"/>
    <p:sldId id="294" r:id="rId9"/>
    <p:sldId id="286" r:id="rId10"/>
    <p:sldId id="261" r:id="rId11"/>
    <p:sldId id="262" r:id="rId12"/>
    <p:sldId id="287" r:id="rId13"/>
    <p:sldId id="288" r:id="rId14"/>
    <p:sldId id="289" r:id="rId15"/>
    <p:sldId id="290" r:id="rId16"/>
    <p:sldId id="291" r:id="rId17"/>
    <p:sldId id="292" r:id="rId18"/>
    <p:sldId id="296" r:id="rId19"/>
    <p:sldId id="297" r:id="rId20"/>
    <p:sldId id="298" r:id="rId21"/>
    <p:sldId id="299" r:id="rId22"/>
    <p:sldId id="300" r:id="rId23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24" autoAdjust="0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28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 Nhat Tung" userId="77b0905b33e1f80d" providerId="LiveId" clId="{A4964FA4-2953-4C64-887E-A60447789925}"/>
    <pc:docChg chg="undo custSel delSld modSld">
      <pc:chgData name="Le Nhat Tung" userId="77b0905b33e1f80d" providerId="LiveId" clId="{A4964FA4-2953-4C64-887E-A60447789925}" dt="2026-06-01T06:13:37.095" v="77" actId="20577"/>
      <pc:docMkLst>
        <pc:docMk/>
      </pc:docMkLst>
      <pc:sldChg chg="modSp mod">
        <pc:chgData name="Le Nhat Tung" userId="77b0905b33e1f80d" providerId="LiveId" clId="{A4964FA4-2953-4C64-887E-A60447789925}" dt="2026-06-01T06:12:00.917" v="7" actId="20577"/>
        <pc:sldMkLst>
          <pc:docMk/>
          <pc:sldMk cId="0" sldId="257"/>
        </pc:sldMkLst>
        <pc:spChg chg="mod">
          <ac:chgData name="Le Nhat Tung" userId="77b0905b33e1f80d" providerId="LiveId" clId="{A4964FA4-2953-4C64-887E-A60447789925}" dt="2026-06-01T06:12:00.917" v="7" actId="20577"/>
          <ac:spMkLst>
            <pc:docMk/>
            <pc:sldMk cId="0" sldId="257"/>
            <ac:spMk id="4" creationId="{00000000-0000-0000-0000-000000000000}"/>
          </ac:spMkLst>
        </pc:spChg>
      </pc:sldChg>
      <pc:sldChg chg="del">
        <pc:chgData name="Le Nhat Tung" userId="77b0905b33e1f80d" providerId="LiveId" clId="{A4964FA4-2953-4C64-887E-A60447789925}" dt="2026-06-01T06:10:57.338" v="0" actId="47"/>
        <pc:sldMkLst>
          <pc:docMk/>
          <pc:sldMk cId="0" sldId="283"/>
        </pc:sldMkLst>
      </pc:sldChg>
      <pc:sldChg chg="del">
        <pc:chgData name="Le Nhat Tung" userId="77b0905b33e1f80d" providerId="LiveId" clId="{A4964FA4-2953-4C64-887E-A60447789925}" dt="2026-06-01T06:10:57.338" v="0" actId="47"/>
        <pc:sldMkLst>
          <pc:docMk/>
          <pc:sldMk cId="0" sldId="284"/>
        </pc:sldMkLst>
      </pc:sldChg>
      <pc:sldChg chg="del">
        <pc:chgData name="Le Nhat Tung" userId="77b0905b33e1f80d" providerId="LiveId" clId="{A4964FA4-2953-4C64-887E-A60447789925}" dt="2026-06-01T06:10:57.338" v="0" actId="47"/>
        <pc:sldMkLst>
          <pc:docMk/>
          <pc:sldMk cId="0" sldId="293"/>
        </pc:sldMkLst>
      </pc:sldChg>
      <pc:sldChg chg="addSp modSp mod">
        <pc:chgData name="Le Nhat Tung" userId="77b0905b33e1f80d" providerId="LiveId" clId="{A4964FA4-2953-4C64-887E-A60447789925}" dt="2026-06-01T06:12:59.854" v="40" actId="1076"/>
        <pc:sldMkLst>
          <pc:docMk/>
          <pc:sldMk cId="0" sldId="295"/>
        </pc:sldMkLst>
        <pc:spChg chg="mod">
          <ac:chgData name="Le Nhat Tung" userId="77b0905b33e1f80d" providerId="LiveId" clId="{A4964FA4-2953-4C64-887E-A60447789925}" dt="2026-06-01T06:12:13.552" v="27" actId="20577"/>
          <ac:spMkLst>
            <pc:docMk/>
            <pc:sldMk cId="0" sldId="295"/>
            <ac:spMk id="8" creationId="{00000000-0000-0000-0000-000000000000}"/>
          </ac:spMkLst>
        </pc:spChg>
        <pc:spChg chg="mod">
          <ac:chgData name="Le Nhat Tung" userId="77b0905b33e1f80d" providerId="LiveId" clId="{A4964FA4-2953-4C64-887E-A60447789925}" dt="2026-06-01T06:12:33.304" v="36" actId="20577"/>
          <ac:spMkLst>
            <pc:docMk/>
            <pc:sldMk cId="0" sldId="295"/>
            <ac:spMk id="10" creationId="{00000000-0000-0000-0000-000000000000}"/>
          </ac:spMkLst>
        </pc:spChg>
        <pc:picChg chg="add mod">
          <ac:chgData name="Le Nhat Tung" userId="77b0905b33e1f80d" providerId="LiveId" clId="{A4964FA4-2953-4C64-887E-A60447789925}" dt="2026-06-01T06:12:59.854" v="40" actId="1076"/>
          <ac:picMkLst>
            <pc:docMk/>
            <pc:sldMk cId="0" sldId="295"/>
            <ac:picMk id="2" creationId="{497A396E-23A9-7D61-08AA-DEFD09D56942}"/>
          </ac:picMkLst>
        </pc:picChg>
      </pc:sldChg>
      <pc:sldChg chg="modSp mod">
        <pc:chgData name="Le Nhat Tung" userId="77b0905b33e1f80d" providerId="LiveId" clId="{A4964FA4-2953-4C64-887E-A60447789925}" dt="2026-06-01T06:13:37.095" v="77" actId="20577"/>
        <pc:sldMkLst>
          <pc:docMk/>
          <pc:sldMk cId="0" sldId="300"/>
        </pc:sldMkLst>
        <pc:graphicFrameChg chg="modGraphic">
          <ac:chgData name="Le Nhat Tung" userId="77b0905b33e1f80d" providerId="LiveId" clId="{A4964FA4-2953-4C64-887E-A60447789925}" dt="2026-06-01T06:13:37.095" v="77" actId="20577"/>
          <ac:graphicFrameMkLst>
            <pc:docMk/>
            <pc:sldMk cId="0" sldId="300"/>
            <ac:graphicFrameMk id="4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0375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34BBB-3EB4-2080-5DC0-6DF31E7D2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939BEB-A4F2-980F-E24C-B08AB51F29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C00B6B-CA79-DA23-7D91-EFD834A35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52B9F-AD27-E43F-4A95-6285EA8BD15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0872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83423-31C0-A7B1-D5F1-5D73359B3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D7ED6B-C6A7-A390-C64C-CB4EA35E33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BFFE50-FE87-82A2-C134-49F387DF3D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BDB6AB-1281-BC7F-45D8-B95280BF71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98492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718AE611-130E-0D2E-E802-8A36716DB9FC}"/>
              </a:ext>
            </a:extLst>
          </p:cNvPr>
          <p:cNvSpPr txBox="1">
            <a:spLocks/>
          </p:cNvSpPr>
          <p:nvPr/>
        </p:nvSpPr>
        <p:spPr>
          <a:xfrm>
            <a:off x="1142999" y="2667001"/>
            <a:ext cx="6858000" cy="432050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500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64CE541A-6BE9-11BD-EA23-8EFFEB671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008" y="584669"/>
            <a:ext cx="8177981" cy="1172951"/>
          </a:xfrm>
          <a:prstGeom prst="roundRect">
            <a:avLst/>
          </a:prstGeom>
          <a:solidFill>
            <a:schemeClr val="accent1"/>
          </a:solidFill>
          <a:effectLst>
            <a:outerShdw blurRad="152400" dist="177800" dir="2700000" algn="tl" rotWithShape="0">
              <a:prstClr val="black">
                <a:alpha val="28000"/>
              </a:prstClr>
            </a:outerShdw>
          </a:effectLst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4B9EEEA-4E55-EBA2-FD56-C7F246D4D4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60909" y="2156870"/>
            <a:ext cx="6022181" cy="666324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Your name here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B7712E16-869E-C669-4D08-61CB38A952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60908" y="3012689"/>
            <a:ext cx="6022181" cy="871725"/>
          </a:xfrm>
        </p:spPr>
        <p:txBody>
          <a:bodyPr>
            <a:normAutofit/>
          </a:bodyPr>
          <a:lstStyle>
            <a:lvl1pPr marL="0" indent="0" algn="ctr">
              <a:buNone/>
              <a:defRPr sz="1500"/>
            </a:lvl1pPr>
          </a:lstStyle>
          <a:p>
            <a:pPr lvl="0"/>
            <a:r>
              <a:rPr lang="en-US" dirty="0"/>
              <a:t>Your Institution here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F3E5E026-FF93-380A-0369-EE921FD448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60908" y="4084776"/>
            <a:ext cx="6022181" cy="605434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1081774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0105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54534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1909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0116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9941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89290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442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</p:sldLayoutIdLst>
  <p:hf sldNum="0"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bg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1pPr>
    </p:titleStyle>
    <p:bodyStyle>
      <a:lvl1pPr marL="171450" indent="-171450" algn="l" defTabSz="685800" rtl="0" eaLnBrk="1" latinLnBrk="0" hangingPunct="1">
        <a:lnSpc>
          <a:spcPct val="110000"/>
        </a:lnSpc>
        <a:spcBef>
          <a:spcPts val="750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1pPr>
      <a:lvl2pPr marL="514350" indent="-171450" algn="just" defTabSz="685800" rtl="0" eaLnBrk="1" latinLnBrk="0" hangingPunct="1">
        <a:lnSpc>
          <a:spcPct val="110000"/>
        </a:lnSpc>
        <a:spcBef>
          <a:spcPts val="450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2pPr>
      <a:lvl3pPr marL="857250" indent="-171450" algn="l" defTabSz="685800" rtl="0" eaLnBrk="1" latinLnBrk="0" hangingPunct="1">
        <a:lnSpc>
          <a:spcPct val="110000"/>
        </a:lnSpc>
        <a:spcBef>
          <a:spcPts val="375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3pPr>
      <a:lvl4pPr marL="1200150" indent="-171450" algn="l" defTabSz="685800" rtl="0" eaLnBrk="1" latinLnBrk="0" hangingPunct="1">
        <a:lnSpc>
          <a:spcPct val="110000"/>
        </a:lnSpc>
        <a:spcBef>
          <a:spcPts val="375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4pPr>
      <a:lvl5pPr marL="1543050" indent="-171450" algn="l" defTabSz="685800" rtl="0" eaLnBrk="1" latinLnBrk="0" hangingPunct="1">
        <a:lnSpc>
          <a:spcPct val="110000"/>
        </a:lnSpc>
        <a:spcBef>
          <a:spcPts val="375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Uplift Modeling and RFM-Driven Coupon Optimization System for Online Retail</a:t>
            </a:r>
          </a:p>
        </p:txBody>
      </p:sp>
      <p:sp>
        <p:nvSpPr>
          <p:cNvPr id="10" name="Sub"/>
          <p:cNvSpPr>
            <a:spLocks noGrp="1"/>
          </p:cNvSpPr>
          <p:nvPr>
            <p:ph type="body" sz="quarter" idx="14"/>
          </p:nvPr>
        </p:nvSpPr>
        <p:spPr>
          <a:xfrm>
            <a:off x="483009" y="1850000"/>
            <a:ext cx="8118067" cy="1550000"/>
          </a:xfrm>
        </p:spPr>
        <p:txBody>
          <a:bodyPr>
            <a:noAutofit/>
          </a:bodyPr>
          <a:lstStyle/>
          <a:p>
            <a:r>
              <a:rPr lang="en-US" sz="2800" dirty="0"/>
              <a:t>DAP391m Project</a:t>
            </a:r>
          </a:p>
          <a:p>
            <a:r>
              <a:rPr lang="vi-VN" sz="1700" dirty="0"/>
              <a:t>Dự án Trí tuệ Nhân tạo và Khoa học Dữ liệu</a:t>
            </a:r>
            <a:endParaRPr lang="en-US" sz="1500" dirty="0"/>
          </a:p>
          <a:p>
            <a:r>
              <a:rPr lang="en-US" sz="1500" dirty="0"/>
              <a:t>FPT University | Ho Chi Minh City</a:t>
            </a:r>
          </a:p>
        </p:txBody>
      </p:sp>
      <p:sp>
        <p:nvSpPr>
          <p:cNvPr id="12" name="Info"/>
          <p:cNvSpPr>
            <a:spLocks noGrp="1"/>
          </p:cNvSpPr>
          <p:nvPr>
            <p:ph type="body" sz="quarter" idx="13"/>
          </p:nvPr>
        </p:nvSpPr>
        <p:spPr>
          <a:xfrm>
            <a:off x="3224219" y="3787235"/>
            <a:ext cx="6700000" cy="974621"/>
          </a:xfrm>
        </p:spPr>
        <p:txBody>
          <a:bodyPr/>
          <a:lstStyle/>
          <a:p>
            <a:pPr algn="l"/>
            <a:r>
              <a:rPr lang="en-US" sz="1300" dirty="0"/>
              <a:t>Students: </a:t>
            </a:r>
            <a:r>
              <a:rPr lang="vi-VN" sz="1300" dirty="0"/>
              <a:t>Lê Phan Nhật Duy</a:t>
            </a:r>
          </a:p>
          <a:p>
            <a:pPr algn="l"/>
            <a:r>
              <a:rPr lang="vi-VN" sz="1300" dirty="0"/>
              <a:t>	Mai Đăng Phước</a:t>
            </a:r>
          </a:p>
          <a:p>
            <a:pPr algn="l"/>
            <a:r>
              <a:rPr lang="vi-VN" sz="1300" dirty="0"/>
              <a:t>                  Phạm Trường Minh Nhật</a:t>
            </a:r>
            <a:endParaRPr lang="en-US" sz="1300" dirty="0"/>
          </a:p>
        </p:txBody>
      </p:sp>
      <p:pic>
        <p:nvPicPr>
          <p:cNvPr id="2" name="Picture 1" descr="Tập tin:Logo Trường Đại học FPT.svg – Wikipedia tiếng Việt">
            <a:extLst>
              <a:ext uri="{FF2B5EF4-FFF2-40B4-BE49-F238E27FC236}">
                <a16:creationId xmlns:a16="http://schemas.microsoft.com/office/drawing/2014/main" id="{497A396E-23A9-7D61-08AA-DEFD09D569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40" y="117275"/>
            <a:ext cx="961960" cy="3750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3CD8ECC-A107-E299-C8CC-2F7E761C2868}"/>
              </a:ext>
            </a:extLst>
          </p:cNvPr>
          <p:cNvSpPr txBox="1"/>
          <p:nvPr/>
        </p:nvSpPr>
        <p:spPr>
          <a:xfrm>
            <a:off x="3224219" y="3492380"/>
            <a:ext cx="2886881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00" dirty="0"/>
              <a:t>Supervisor/Mentor: </a:t>
            </a:r>
            <a:r>
              <a:rPr lang="vi-VN" sz="1300" dirty="0">
                <a:latin typeface="Calibri" panose="020F0502020204030204" pitchFamily="34" charset="0"/>
                <a:cs typeface="Calibri" panose="020F0502020204030204" pitchFamily="34" charset="0"/>
              </a:rPr>
              <a:t>Nguyễn Hoàng Linh</a:t>
            </a:r>
            <a:endParaRPr lang="en-US" sz="13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ut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— Nội dung trình bày (10 DS Steps)</a:t>
            </a:r>
            <a:endParaRPr lang="en-US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Body"/>
          <p:cNvSpPr/>
          <p:nvPr/>
        </p:nvSpPr>
        <p:spPr>
          <a:xfrm>
            <a:off x="457200" y="105156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vi-VN" sz="15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báo cáo gồm 4 phần chính, tương ứng 10 bước Data Science:</a:t>
            </a:r>
            <a:endParaRPr lang="vi-VN" sz="1550" dirty="0"/>
          </a:p>
          <a:p>
            <a:pPr>
              <a:spcAft>
                <a:spcPts val="200"/>
              </a:spcAft>
              <a:buNone/>
            </a:pPr>
            <a:endParaRPr lang="en-US" sz="150" dirty="0"/>
          </a:p>
          <a:p>
            <a:pPr marL="0" indent="0" algn="l">
              <a:spcAft>
                <a:spcPts val="150"/>
              </a:spcAft>
              <a:buNone/>
            </a:pPr>
            <a:r>
              <a:rPr lang="en-US" sz="1500" b="1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— Problem &amp; Data Understanding  (Steps 1-2-3)</a:t>
            </a:r>
            <a:endParaRPr lang="en-US" sz="1500" dirty="0"/>
          </a:p>
          <a:p>
            <a:pPr marL="0" indent="0" algn="l">
              <a:spcAft>
                <a:spcPts val="450"/>
              </a:spcAft>
              <a:buNone/>
            </a:pPr>
            <a:r>
              <a:rPr lang="vi-VN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Understanding · Data Understanding · Feature Understanding (EDA)</a:t>
            </a:r>
            <a:endParaRPr lang="vi-VN" sz="1200" dirty="0"/>
          </a:p>
          <a:p>
            <a:pPr marL="0" indent="0" algn="l">
              <a:spcAft>
                <a:spcPts val="150"/>
              </a:spcAft>
              <a:buNone/>
            </a:pPr>
            <a:r>
              <a:rPr lang="en-US" sz="1500" b="1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— Feature Engineering &amp; Visualization  (Steps 3-4)</a:t>
            </a:r>
            <a:endParaRPr lang="en-US" sz="1500" dirty="0"/>
          </a:p>
          <a:p>
            <a:pPr marL="0" indent="0" algn="l">
              <a:spcAft>
                <a:spcPts val="450"/>
              </a:spcAft>
              <a:buNone/>
            </a:pPr>
            <a:r>
              <a:rPr lang="vi-VN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· EDA Advanced Charts · Interactive Dashboard (Plotly/Dash)</a:t>
            </a:r>
            <a:endParaRPr lang="vi-VN" sz="1200" dirty="0"/>
          </a:p>
          <a:p>
            <a:pPr marL="0" indent="0" algn="l">
              <a:spcAft>
                <a:spcPts val="150"/>
              </a:spcAft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— Modeling, Evaluation &amp; AI Application  (Steps 5-6-7-8-9)</a:t>
            </a:r>
            <a:endParaRPr lang="en-US" sz="1500" dirty="0"/>
          </a:p>
          <a:p>
            <a:pPr marL="0" indent="0" algn="l">
              <a:spcAft>
                <a:spcPts val="450"/>
              </a:spcAft>
              <a:buNone/>
            </a:pPr>
            <a:r>
              <a:rPr lang="vi-VN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Partition · Data Modelling · Evaluation · Hyper-parameter Tuning · Pipeline · AI App</a:t>
            </a:r>
            <a:endParaRPr lang="vi-VN" sz="1200" dirty="0"/>
          </a:p>
          <a:p>
            <a:pPr marL="0" indent="0" algn="l">
              <a:spcAft>
                <a:spcPts val="150"/>
              </a:spcAft>
              <a:buNone/>
            </a:pPr>
            <a:r>
              <a:rPr lang="en-US" sz="1500" b="1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— Conclusion &amp; AI Reflection  (Step 10 + Q&amp;A)</a:t>
            </a:r>
            <a:endParaRPr lang="en-US" sz="1500" dirty="0"/>
          </a:p>
          <a:p>
            <a:pPr marL="0" indent="0" algn="l">
              <a:spcAft>
                <a:spcPts val="350"/>
              </a:spcAft>
              <a:buNone/>
            </a:pPr>
            <a:r>
              <a:rPr lang="vi-VN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Kết luận · AI Audit Log · Human Delta · Hallucination Detection · Self-Assessment</a:t>
            </a:r>
            <a:endParaRPr lang="vi-VN" sz="1200" dirty="0"/>
          </a:p>
          <a:p>
            <a:pPr>
              <a:spcAft>
                <a:spcPts val="200"/>
              </a:spcAft>
              <a:buNone/>
            </a:pPr>
            <a:endParaRPr lang="en-US" sz="100" dirty="0"/>
          </a:p>
          <a:p>
            <a:pPr marL="0" indent="0" algn="l">
              <a:spcAft>
                <a:spcPts val="300"/>
              </a:spcAft>
              <a:buNone/>
            </a:pPr>
            <a:endParaRPr lang="vi-VN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1D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2E6B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endParaRPr lang="en-US"/>
          </a:p>
        </p:txBody>
      </p:sp>
      <p:sp>
        <p:nvSpPr>
          <p:cNvPr id="3" name="B3"/>
          <p:cNvSpPr/>
          <p:nvPr/>
        </p:nvSpPr>
        <p:spPr>
          <a:xfrm>
            <a:off x="0" y="1200000"/>
            <a:ext cx="9144000" cy="5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dirty="0"/>
          </a:p>
        </p:txBody>
      </p:sp>
      <p:sp>
        <p:nvSpPr>
          <p:cNvPr id="4" name="B4"/>
          <p:cNvSpPr/>
          <p:nvPr/>
        </p:nvSpPr>
        <p:spPr>
          <a:xfrm>
            <a:off x="400000" y="1780000"/>
            <a:ext cx="83440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Data Understanding + SQL</a:t>
            </a:r>
            <a:endParaRPr lang="en-US" dirty="0"/>
          </a:p>
        </p:txBody>
      </p:sp>
      <p:sp>
        <p:nvSpPr>
          <p:cNvPr id="10" name="B10"/>
          <p:cNvSpPr/>
          <p:nvPr/>
        </p:nvSpPr>
        <p:spPr>
          <a:xfrm>
            <a:off x="32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Problem Understanding</a:t>
            </a:r>
            <a:endParaRPr lang="en-US" dirty="0"/>
          </a:p>
        </p:txBody>
      </p:sp>
      <p:sp>
        <p:nvSpPr>
          <p:cNvPr id="11" name="B11"/>
          <p:cNvSpPr/>
          <p:nvPr/>
        </p:nvSpPr>
        <p:spPr>
          <a:xfrm>
            <a:off x="206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Data Understanding</a:t>
            </a:r>
            <a:endParaRPr lang="en-US" dirty="0"/>
          </a:p>
        </p:txBody>
      </p:sp>
      <p:sp>
        <p:nvSpPr>
          <p:cNvPr id="12" name="B12"/>
          <p:cNvSpPr/>
          <p:nvPr/>
        </p:nvSpPr>
        <p:spPr>
          <a:xfrm>
            <a:off x="380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EDA</a:t>
            </a:r>
            <a:endParaRPr lang="en-US" dirty="0"/>
          </a:p>
        </p:txBody>
      </p:sp>
      <p:sp>
        <p:nvSpPr>
          <p:cNvPr id="13" name="B13"/>
          <p:cNvSpPr/>
          <p:nvPr/>
        </p:nvSpPr>
        <p:spPr>
          <a:xfrm>
            <a:off x="554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</a:t>
            </a:r>
            <a:endParaRPr lang="en-US" dirty="0"/>
          </a:p>
        </p:txBody>
      </p:sp>
      <p:sp>
        <p:nvSpPr>
          <p:cNvPr id="14" name="B14"/>
          <p:cNvSpPr/>
          <p:nvPr/>
        </p:nvSpPr>
        <p:spPr>
          <a:xfrm>
            <a:off x="728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Q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Questions (Based on Step 1)</a:t>
            </a:r>
            <a:endParaRPr lang="en-US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Body"/>
          <p:cNvSpPr/>
          <p:nvPr/>
        </p:nvSpPr>
        <p:spPr>
          <a:xfrm>
            <a:off x="457200" y="105156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100"/>
              </a:spcAft>
            </a:pPr>
            <a:r>
              <a:rPr lang="en-US" sz="14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[RQ1] </a:t>
            </a:r>
            <a:r>
              <a:rPr lang="en-US" sz="1400" b="1" dirty="0">
                <a:solidFill>
                  <a:srgbClr val="0D6EFD"/>
                </a:solidFill>
                <a:latin typeface="Calibri" pitchFamily="34" charset="0"/>
                <a:cs typeface="Calibri" pitchFamily="34" charset="-120"/>
              </a:rPr>
              <a:t>How can we effectively quantify and segment customers based on transaction history (RFM)? </a:t>
            </a:r>
          </a:p>
          <a:p>
            <a:pPr>
              <a:spcAft>
                <a:spcPts val="100"/>
              </a:spcAft>
            </a:pPr>
            <a:r>
              <a:rPr lang="en-US" sz="1400" b="1" dirty="0">
                <a:solidFill>
                  <a:srgbClr val="0D6EFD"/>
                </a:solidFill>
                <a:latin typeface="Calibri" pitchFamily="34" charset="0"/>
                <a:cs typeface="Calibri" pitchFamily="34" charset="-120"/>
              </a:rPr>
              <a:t>How do behavioral patterns differ between coupon redeemers and non-redeemers</a:t>
            </a:r>
          </a:p>
          <a:p>
            <a:pPr>
              <a:spcAft>
                <a:spcPts val="100"/>
              </a:spcAft>
            </a:pPr>
            <a:r>
              <a:rPr lang="en-US" sz="1200" b="1" dirty="0"/>
              <a:t>Feature</a:t>
            </a:r>
            <a:r>
              <a:rPr lang="en-US" sz="1200" dirty="0"/>
              <a:t>: Recency, Frequency, Monetary</a:t>
            </a:r>
          </a:p>
          <a:p>
            <a:r>
              <a:rPr lang="en-US" sz="1200" b="1" dirty="0"/>
              <a:t>Target: </a:t>
            </a:r>
            <a:r>
              <a:rPr lang="en-US" sz="1200" dirty="0"/>
              <a:t>IsRedeemed (Binary: 1 = Redeemed, 0 = Not Redeemed) </a:t>
            </a:r>
          </a:p>
          <a:p>
            <a:r>
              <a:rPr lang="en-US" sz="1200" b="1" dirty="0"/>
              <a:t>Problem Type: </a:t>
            </a:r>
            <a:r>
              <a:rPr lang="en-US" sz="1200" dirty="0"/>
              <a:t>Unsupervised Clustering + Descriptive Analytics</a:t>
            </a:r>
          </a:p>
          <a:p>
            <a:endParaRPr lang="en-US" sz="12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[RQ2] </a:t>
            </a:r>
            <a:r>
              <a:rPr lang="en-US" sz="1400" b="1" dirty="0">
                <a:solidFill>
                  <a:srgbClr val="0D6EFD"/>
                </a:solidFill>
                <a:latin typeface="Calibri" pitchFamily="34" charset="0"/>
                <a:cs typeface="Calibri" pitchFamily="34" charset="-120"/>
              </a:rPr>
              <a:t>How can we estimate the causal impact (CATE) of coupon distribution on individual purchase decisions? Does the T-Learner XGBoost architecture outperform traditional heuristic rules?</a:t>
            </a:r>
          </a:p>
          <a:p>
            <a:pPr marL="0" indent="0" algn="l">
              <a:spcAft>
                <a:spcPts val="100"/>
              </a:spcAft>
              <a:buNone/>
            </a:pPr>
            <a:r>
              <a:rPr lang="en-US" sz="1200" b="1" dirty="0"/>
              <a:t>Feature</a:t>
            </a:r>
            <a:r>
              <a:rPr lang="en-US" sz="1200" dirty="0"/>
              <a:t>: RFM Features, DiscountValue, CouponType </a:t>
            </a:r>
          </a:p>
          <a:p>
            <a:pPr marL="0" indent="0" algn="l">
              <a:spcAft>
                <a:spcPts val="100"/>
              </a:spcAft>
              <a:buNone/>
            </a:pPr>
            <a:r>
              <a:rPr lang="en-US" sz="1200" b="1" dirty="0"/>
              <a:t>Target: </a:t>
            </a:r>
            <a:r>
              <a:rPr lang="en-US" sz="1200" dirty="0"/>
              <a:t>Individual Uplift Score</a:t>
            </a:r>
          </a:p>
          <a:p>
            <a:pPr marL="0" indent="0" algn="l">
              <a:spcAft>
                <a:spcPts val="100"/>
              </a:spcAft>
              <a:buNone/>
            </a:pPr>
            <a:r>
              <a:rPr lang="en-US" sz="1200" b="1" dirty="0"/>
              <a:t>Problem Type: </a:t>
            </a:r>
            <a:r>
              <a:rPr lang="en-US" sz="1200" dirty="0"/>
              <a:t>Binary Classification + Uplift Modeling</a:t>
            </a:r>
          </a:p>
          <a:p>
            <a:pPr marL="0" indent="0" algn="l">
              <a:spcAft>
                <a:spcPts val="380"/>
              </a:spcAft>
              <a:buNone/>
            </a:pPr>
            <a:endParaRPr lang="vi-VN" sz="1200" dirty="0"/>
          </a:p>
          <a:p>
            <a:pPr marL="0" indent="0" algn="l">
              <a:spcAft>
                <a:spcPts val="100"/>
              </a:spcAft>
              <a:buNone/>
            </a:pPr>
            <a:r>
              <a:rPr lang="en-US" sz="1400" b="1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[RQ3] </a:t>
            </a:r>
            <a:r>
              <a:rPr lang="en-US" sz="1400" b="1" dirty="0">
                <a:solidFill>
                  <a:srgbClr val="0D6EFD"/>
                </a:solidFill>
                <a:latin typeface="Calibri" pitchFamily="34" charset="0"/>
                <a:cs typeface="Calibri" pitchFamily="34" charset="-120"/>
              </a:rPr>
              <a:t>How much waste/cost can the AI Targeted uplift strategy reduce, and what is the ROI improvement compared to traditional Mass Mailing campaigns?</a:t>
            </a:r>
          </a:p>
          <a:p>
            <a:pPr marL="0" indent="0" algn="l">
              <a:spcAft>
                <a:spcPts val="100"/>
              </a:spcAft>
              <a:buNone/>
            </a:pPr>
            <a:r>
              <a:rPr lang="en-US" sz="1200" b="1" dirty="0"/>
              <a:t>Feature</a:t>
            </a:r>
            <a:r>
              <a:rPr lang="en-US" sz="1200" dirty="0"/>
              <a:t>: Predicted Uplift Score, Customer Segment, Coupon Campaign Cost, Revenue </a:t>
            </a:r>
          </a:p>
          <a:p>
            <a:pPr marL="0" indent="0" algn="l">
              <a:spcAft>
                <a:spcPts val="100"/>
              </a:spcAft>
              <a:buNone/>
            </a:pPr>
            <a:r>
              <a:rPr lang="en-US" sz="1200" b="1" dirty="0"/>
              <a:t>Target: </a:t>
            </a:r>
            <a:r>
              <a:rPr lang="en-US" sz="1200" dirty="0"/>
              <a:t>Incremental Revenue</a:t>
            </a:r>
          </a:p>
          <a:p>
            <a:pPr marL="0" indent="0" algn="l">
              <a:spcAft>
                <a:spcPts val="100"/>
              </a:spcAft>
              <a:buNone/>
            </a:pPr>
            <a:r>
              <a:rPr lang="en-US" sz="1200" b="1" dirty="0"/>
              <a:t>Problem Type: </a:t>
            </a:r>
            <a:r>
              <a:rPr lang="en-US" sz="1200" dirty="0"/>
              <a:t>Decision Optimization &amp; Cost-Benefit Evaluation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ep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Problem Understanding</a:t>
            </a:r>
            <a:endParaRPr lang="en-US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T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83328"/>
              </p:ext>
            </p:extLst>
          </p:nvPr>
        </p:nvGraphicFramePr>
        <p:xfrm>
          <a:off x="457200" y="1097280"/>
          <a:ext cx="8229600" cy="2842260"/>
        </p:xfrm>
        <a:graphic>
          <a:graphicData uri="http://schemas.openxmlformats.org/drawingml/2006/table">
            <a:tbl>
              <a:tblPr/>
              <a:tblGrid>
                <a:gridCol w="3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question (EN)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Hướng dẫn thực hiện (VN)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Input features consist of engineered Recency, Frequency, and Monetary (RFM) behavioral fields, aggregate purchase counts, and loyalty group categories</a:t>
                      </a:r>
                      <a:endParaRPr lang="vi-V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Binary indicators reflecting whether a customer executed a transactional purchase or coupon redemption during the target evaluation campaign window.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Classification or Regression?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Advanced Causal Uplift Modeling designed to predict individual Conditional Average Treatment Effects (CATE) via meta-model binary classifiers. 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context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E-commerce promotion optimization designed to eliminate capital waste from mass distribution campaigns by isolating and targeting only "Persuadable" consumers.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 success metrics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Quantified by maximization of Area Under Uplift Curve (AUUC), positive </a:t>
                      </a:r>
                      <a:r>
                        <a:rPr lang="en-US" sz="1100" dirty="0" err="1"/>
                        <a:t>Qini</a:t>
                      </a:r>
                      <a:r>
                        <a:rPr lang="en-US" sz="1100" dirty="0"/>
                        <a:t> Gain against random baseline distributions, and baseline classification accuracy.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RBL: Justify + AI Audit Log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Validated using marketing optimization benchmarks. Initial prompt sequences for framework exploration and domain mapping are recorded inside the AI Audit Log.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ep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-127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Data Understanding</a:t>
            </a:r>
            <a:endParaRPr lang="en-US" sz="2800" dirty="0"/>
          </a:p>
        </p:txBody>
      </p:sp>
      <p:sp>
        <p:nvSpPr>
          <p:cNvPr id="3" name="Div"/>
          <p:cNvSpPr/>
          <p:nvPr/>
        </p:nvSpPr>
        <p:spPr>
          <a:xfrm>
            <a:off x="457200" y="6553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T2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2025295"/>
              </p:ext>
            </p:extLst>
          </p:nvPr>
        </p:nvGraphicFramePr>
        <p:xfrm>
          <a:off x="387350" y="763271"/>
          <a:ext cx="8229600" cy="2932429"/>
        </p:xfrm>
        <a:graphic>
          <a:graphicData uri="http://schemas.openxmlformats.org/drawingml/2006/table">
            <a:tbl>
              <a:tblPr/>
              <a:tblGrid>
                <a:gridCol w="2660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8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34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issue (EN)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Cách xử lý &amp; Hướng dẫn (VN)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1"/>
                  </a:ext>
                </a:extLst>
              </a:tr>
              <a:tr h="513095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Missing Values ?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Guest or anonymous transaction rows lacking valid </a:t>
                      </a:r>
                      <a:r>
                        <a:rPr lang="en-US" sz="1100" dirty="0" err="1"/>
                        <a:t>CustomerID</a:t>
                      </a:r>
                      <a:r>
                        <a:rPr lang="en-US" sz="1100" dirty="0"/>
                        <a:t> tokens were completely dropped, removing 243,007 rows (22.8% of raw records).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Outlier / Noise ?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Extreme values for transactional Quantity and </a:t>
                      </a:r>
                      <a:r>
                        <a:rPr lang="en-US" sz="1100" dirty="0" err="1"/>
                        <a:t>UnitPrice</a:t>
                      </a:r>
                      <a:r>
                        <a:rPr lang="en-US" sz="1100" dirty="0"/>
                        <a:t> fields were capped at their respective 99th percentiles (Quantity = 144.00, </a:t>
                      </a:r>
                      <a:r>
                        <a:rPr lang="en-US" sz="1100" dirty="0" err="1"/>
                        <a:t>UnitPrice</a:t>
                      </a:r>
                      <a:r>
                        <a:rPr lang="en-US" sz="1100" dirty="0"/>
                        <a:t> = 14.95).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3"/>
                  </a:ext>
                </a:extLst>
              </a:tr>
              <a:tr h="22733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Inconsistent ?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FontTx/>
                        <a:buNone/>
                      </a:pPr>
                      <a:r>
                        <a:rPr lang="en-US" sz="1100" dirty="0"/>
                        <a:t>Duplicate transactions, string typing </a:t>
                      </a:r>
                      <a:r>
                        <a:rPr lang="en-US" sz="1100" dirty="0" err="1"/>
                        <a:t>typing</a:t>
                      </a:r>
                      <a:r>
                        <a:rPr lang="en-US" sz="1100" dirty="0"/>
                        <a:t> inconsistencies, and negative data entries representing stock returns were standardized or filtered out during ETL phase.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4"/>
                  </a:ext>
                </a:extLst>
              </a:tr>
              <a:tr h="222392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Imbalanced ?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The overall target redemption rate stands at 38.91% across the historical data, which is directly addressed via stratified data splits and model parameters.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5"/>
                  </a:ext>
                </a:extLst>
              </a:tr>
              <a:tr h="222392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Skewness ?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Transaction frequencies and financial values display high right-skewness, identified via </a:t>
                      </a:r>
                      <a:r>
                        <a:rPr lang="en-US" sz="1100" dirty="0" err="1"/>
                        <a:t>df.skew</a:t>
                      </a:r>
                      <a:r>
                        <a:rPr lang="en-US" sz="1100" dirty="0"/>
                        <a:t>() and minimized through quantile-based RFM scoring grids.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6"/>
                  </a:ext>
                </a:extLst>
              </a:tr>
              <a:tr h="222392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Audit Log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Derived from 1,067,372 raw entries in the Online Retail II dataset, producing 779,425 post-clean records over 5,878 unique customer IDs. Profile prompts logged.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ep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2667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Feature Understanding (EDA)</a:t>
            </a:r>
            <a:endParaRPr lang="en-US" sz="2800" dirty="0"/>
          </a:p>
        </p:txBody>
      </p:sp>
      <p:sp>
        <p:nvSpPr>
          <p:cNvPr id="3" name="Div"/>
          <p:cNvSpPr/>
          <p:nvPr/>
        </p:nvSpPr>
        <p:spPr>
          <a:xfrm flipV="1">
            <a:off x="457200" y="660400"/>
            <a:ext cx="8229600" cy="4445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graphicFrame>
        <p:nvGraphicFramePr>
          <p:cNvPr id="4" name="T3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228176"/>
              </p:ext>
            </p:extLst>
          </p:nvPr>
        </p:nvGraphicFramePr>
        <p:xfrm>
          <a:off x="476250" y="765810"/>
          <a:ext cx="8229600" cy="2923541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0003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EDA type (EN)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kern="1200" dirty="0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-120"/>
                        </a:rPr>
                        <a:t>Technique &amp; Purpose </a:t>
                      </a: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(EN)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1"/>
                  </a:ext>
                </a:extLst>
              </a:tr>
              <a:tr h="438923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Univariate Analysis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Histograms and Box-and-Whisker plots were run to extract the variance boundaries and baseline distributions for Recency, Frequency, and Monetary attributes.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2"/>
                  </a:ext>
                </a:extLst>
              </a:tr>
              <a:tr h="438923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BiVariate Analysis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Cross-tabulations checking redemption patterns across segments show high validation trends: Champions reach 71.91% redemption, whereas Lost tiers sit at 10.90%.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3"/>
                  </a:ext>
                </a:extLst>
              </a:tr>
              <a:tr h="438923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MultiVariate Analysis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Matrix correlation plots and multi-variable </a:t>
                      </a:r>
                      <a:r>
                        <a:rPr lang="en-US" sz="1100" dirty="0" err="1"/>
                        <a:t>pairplots</a:t>
                      </a:r>
                      <a:r>
                        <a:rPr lang="en-US" sz="1100" dirty="0"/>
                        <a:t> were calculated to check internal feature associations and guard against feature collinearity.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4"/>
                  </a:ext>
                </a:extLst>
              </a:tr>
              <a:tr h="438923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Geospatial (if applicable)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Not available in project artifacts (the data features lack coordinate attributes or detailed geographic parameters).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5"/>
                  </a:ext>
                </a:extLst>
              </a:tr>
              <a:tr h="438923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Insight documentation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Analytical visualizations include complete English annotation strings, axis labels, and direct conceptual mappings back to the primary project questions.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6"/>
                  </a:ext>
                </a:extLst>
              </a:tr>
              <a:tr h="438923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RBL + AI Audit Log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Graph choices are tied to underlying variable types. Generation scripts and design sequences are saved within the unified project prompt ledger.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2D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endParaRPr lang="en-US"/>
          </a:p>
        </p:txBody>
      </p:sp>
      <p:sp>
        <p:nvSpPr>
          <p:cNvPr id="3" name="B3"/>
          <p:cNvSpPr/>
          <p:nvPr/>
        </p:nvSpPr>
        <p:spPr>
          <a:xfrm>
            <a:off x="0" y="1200000"/>
            <a:ext cx="9144000" cy="5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dirty="0"/>
          </a:p>
        </p:txBody>
      </p:sp>
      <p:sp>
        <p:nvSpPr>
          <p:cNvPr id="4" name="B4"/>
          <p:cNvSpPr/>
          <p:nvPr/>
        </p:nvSpPr>
        <p:spPr>
          <a:xfrm>
            <a:off x="400000" y="1780000"/>
            <a:ext cx="83440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Visualization</a:t>
            </a:r>
            <a:endParaRPr lang="en-US" dirty="0"/>
          </a:p>
        </p:txBody>
      </p:sp>
      <p:sp>
        <p:nvSpPr>
          <p:cNvPr id="10" name="B10"/>
          <p:cNvSpPr/>
          <p:nvPr/>
        </p:nvSpPr>
        <p:spPr>
          <a:xfrm>
            <a:off x="322000" y="2900000"/>
            <a:ext cx="2833333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Feature Engineering</a:t>
            </a:r>
            <a:endParaRPr lang="en-US" dirty="0"/>
          </a:p>
        </p:txBody>
      </p:sp>
      <p:sp>
        <p:nvSpPr>
          <p:cNvPr id="11" name="B11"/>
          <p:cNvSpPr/>
          <p:nvPr/>
        </p:nvSpPr>
        <p:spPr>
          <a:xfrm>
            <a:off x="3195333" y="2900000"/>
            <a:ext cx="2833333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Advanced Charts</a:t>
            </a:r>
            <a:endParaRPr lang="en-US" dirty="0"/>
          </a:p>
        </p:txBody>
      </p:sp>
      <p:sp>
        <p:nvSpPr>
          <p:cNvPr id="12" name="B12"/>
          <p:cNvSpPr/>
          <p:nvPr/>
        </p:nvSpPr>
        <p:spPr>
          <a:xfrm>
            <a:off x="6068666" y="2900000"/>
            <a:ext cx="2833333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(Plotly/Dash)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ep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501650" y="0"/>
            <a:ext cx="8229600" cy="8661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Feature Engineering</a:t>
            </a:r>
            <a:endParaRPr lang="en-US" sz="2800" dirty="0"/>
          </a:p>
        </p:txBody>
      </p:sp>
      <p:sp>
        <p:nvSpPr>
          <p:cNvPr id="3" name="Div"/>
          <p:cNvSpPr/>
          <p:nvPr/>
        </p:nvSpPr>
        <p:spPr>
          <a:xfrm>
            <a:off x="501650" y="69215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T6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7283780"/>
              </p:ext>
            </p:extLst>
          </p:nvPr>
        </p:nvGraphicFramePr>
        <p:xfrm>
          <a:off x="501650" y="778511"/>
          <a:ext cx="8229600" cy="3002226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592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 (EN)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Hướng dẫn chi tiết (VN)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1"/>
                  </a:ext>
                </a:extLst>
              </a:tr>
              <a:tr h="403491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Skewness / Missing / Outlier Handling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Dropped all rows with missing customer indicators and applied top-boundary capping at the 99th percentile to stabilize model convergence against outliers.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2"/>
                  </a:ext>
                </a:extLst>
              </a:tr>
              <a:tr h="480042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Enrichment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Aggregated transactional streams into Recency, Frequency, and Monetary metrics to profile consumer behavior and capture engagement depth.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3"/>
                  </a:ext>
                </a:extLst>
              </a:tr>
              <a:tr h="480042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Transformation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Implemented quantile-based grouping to segment customer behavior profiles, smoothing high feature variances into clear behavioral brackets.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4"/>
                  </a:ext>
                </a:extLst>
              </a:tr>
              <a:tr h="403491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Selection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Used correlation matrices and statistical screening filters to eliminate redundant or overlapping behavioral descriptors before ingestion.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5"/>
                  </a:ext>
                </a:extLst>
              </a:tr>
              <a:tr h="480042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Encoding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Transformed non-numeric transactional tracking markers into model-ready fields using category mapping frameworks.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6"/>
                  </a:ext>
                </a:extLst>
              </a:tr>
              <a:tr h="403491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Scaling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Integrated </a:t>
                      </a:r>
                      <a:r>
                        <a:rPr lang="en-US" sz="1100" dirty="0" err="1"/>
                        <a:t>StandardScaler</a:t>
                      </a:r>
                      <a:r>
                        <a:rPr lang="en-US" sz="1100" dirty="0"/>
                        <a:t> transformations within the automated model pipeline to eliminate scaling biases without introducing training set data leakage. </a:t>
                      </a:r>
                      <a:endParaRPr lang="vi-V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izAd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39700"/>
            <a:ext cx="8229600" cy="439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in Advanced (Step 3 cont.)</a:t>
            </a:r>
            <a:endParaRPr lang="en-US" sz="2800" dirty="0"/>
          </a:p>
        </p:txBody>
      </p:sp>
      <p:sp>
        <p:nvSpPr>
          <p:cNvPr id="3" name="Div"/>
          <p:cNvSpPr/>
          <p:nvPr/>
        </p:nvSpPr>
        <p:spPr>
          <a:xfrm>
            <a:off x="457200" y="67310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T7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610784"/>
              </p:ext>
            </p:extLst>
          </p:nvPr>
        </p:nvGraphicFramePr>
        <p:xfrm>
          <a:off x="457200" y="758191"/>
          <a:ext cx="8229600" cy="2842260"/>
        </p:xfrm>
        <a:graphic>
          <a:graphicData uri="http://schemas.openxmlformats.org/drawingml/2006/table">
            <a:tbl>
              <a:tblPr/>
              <a:tblGrid>
                <a:gridCol w="2190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8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 type (EN)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kern="1200" dirty="0">
                          <a:solidFill>
                            <a:srgbClr val="FFFFFF"/>
                          </a:solidFill>
                          <a:latin typeface="Calibri" pitchFamily="34" charset="0"/>
                          <a:cs typeface="Calibri" pitchFamily="34" charset="-120"/>
                        </a:rPr>
                        <a:t>When to Use &amp; Technical Requirements</a:t>
                      </a:r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Heatmap (correlation / density)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Shows the interaction matrix between engineered RFM attributes, confirming feature isolation boundaries and checking for collinearity issues.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 / Line chart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Displays transactional volumes and cumulative user redemption trends over time to identify campaign velocity and temporal spikes.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Waffle / Treemap / Pie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Illustrates the breakdown of unique customer accounts across behavioral tiers to map segment sizes visually.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 / Pairplot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Draws dual-axis distributions across frequency and monetary fields, colored by redemption status, to reveal clear interaction zones.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Cloud / Choropleth Map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Not available in project artifacts (the underlying transactional records do not include unstructured text descriptions or regional tracking details).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RBL + AI Audit Log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Graph outputs include clear structural labels and insights written in English, backed up by generation prompt strings saved in the log ledger.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sh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514350" y="0"/>
            <a:ext cx="8229600" cy="5473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(Plotly &amp; Dash)</a:t>
            </a:r>
            <a:endParaRPr lang="en-US" sz="2800" dirty="0"/>
          </a:p>
        </p:txBody>
      </p:sp>
      <p:sp>
        <p:nvSpPr>
          <p:cNvPr id="3" name="Div"/>
          <p:cNvSpPr/>
          <p:nvPr/>
        </p:nvSpPr>
        <p:spPr>
          <a:xfrm>
            <a:off x="457200" y="547370"/>
            <a:ext cx="828675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T8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3305687"/>
              </p:ext>
            </p:extLst>
          </p:nvPr>
        </p:nvGraphicFramePr>
        <p:xfrm>
          <a:off x="457200" y="586740"/>
          <a:ext cx="7819708" cy="2842260"/>
        </p:xfrm>
        <a:graphic>
          <a:graphicData uri="http://schemas.openxmlformats.org/drawingml/2006/table">
            <a:tbl>
              <a:tblPr/>
              <a:tblGrid>
                <a:gridCol w="17554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64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(EN)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Hướng dẫn chi tiết (VN)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framework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Developed an interactive UI utilizing the </a:t>
                      </a:r>
                      <a:r>
                        <a:rPr lang="en-US" sz="1100" dirty="0" err="1"/>
                        <a:t>Streamlit</a:t>
                      </a:r>
                      <a:r>
                        <a:rPr lang="en-US" sz="1100" dirty="0"/>
                        <a:t> interface, hosting an embedded marketing simulation engine.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Min. 3 interactive charts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Contains three distinct interactive plots that map behavioral metrics and causal patterns directly to the core research questions.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Filter / Dropdown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Provides dynamic input dials and dropdowns allowing real-time filtering of customer segments, unit promotion costs, and margins. </a:t>
                      </a:r>
                      <a:endParaRPr lang="vi-V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 summary cards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Features prominent KPI score summary cards showing aggregate metrics including customer totals, baseline redemptions, and projected ROI. </a:t>
                      </a:r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Geospatial chart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Not available in project artifacts (the transactional logs contain no regional attributes or layout shapes for spatial rendering).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RBL + AI Audit Log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The framework choice is justified by rapid application deployment workflows. Layout configurations and callbacks are backed up in prompt logs.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3D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endParaRPr lang="en-US"/>
          </a:p>
        </p:txBody>
      </p:sp>
      <p:sp>
        <p:nvSpPr>
          <p:cNvPr id="3" name="B3"/>
          <p:cNvSpPr/>
          <p:nvPr/>
        </p:nvSpPr>
        <p:spPr>
          <a:xfrm>
            <a:off x="0" y="1200000"/>
            <a:ext cx="9144000" cy="5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dirty="0"/>
          </a:p>
        </p:txBody>
      </p:sp>
      <p:sp>
        <p:nvSpPr>
          <p:cNvPr id="4" name="B4"/>
          <p:cNvSpPr/>
          <p:nvPr/>
        </p:nvSpPr>
        <p:spPr>
          <a:xfrm>
            <a:off x="400000" y="1780000"/>
            <a:ext cx="83440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Modeling, Evaluation &amp; AI Application</a:t>
            </a:r>
            <a:endParaRPr lang="en-US" dirty="0"/>
          </a:p>
        </p:txBody>
      </p:sp>
      <p:sp>
        <p:nvSpPr>
          <p:cNvPr id="10" name="B10"/>
          <p:cNvSpPr/>
          <p:nvPr/>
        </p:nvSpPr>
        <p:spPr>
          <a:xfrm>
            <a:off x="32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Dataset Partition</a:t>
            </a:r>
            <a:endParaRPr lang="en-US" dirty="0"/>
          </a:p>
        </p:txBody>
      </p:sp>
      <p:sp>
        <p:nvSpPr>
          <p:cNvPr id="11" name="B11"/>
          <p:cNvSpPr/>
          <p:nvPr/>
        </p:nvSpPr>
        <p:spPr>
          <a:xfrm>
            <a:off x="206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6: Modelling</a:t>
            </a:r>
            <a:endParaRPr lang="en-US" dirty="0"/>
          </a:p>
        </p:txBody>
      </p:sp>
      <p:sp>
        <p:nvSpPr>
          <p:cNvPr id="12" name="B12"/>
          <p:cNvSpPr/>
          <p:nvPr/>
        </p:nvSpPr>
        <p:spPr>
          <a:xfrm>
            <a:off x="380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7: Evaluation</a:t>
            </a:r>
            <a:endParaRPr lang="en-US" dirty="0"/>
          </a:p>
        </p:txBody>
      </p:sp>
      <p:sp>
        <p:nvSpPr>
          <p:cNvPr id="13" name="B13"/>
          <p:cNvSpPr/>
          <p:nvPr/>
        </p:nvSpPr>
        <p:spPr>
          <a:xfrm>
            <a:off x="554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8: Tuning</a:t>
            </a:r>
            <a:endParaRPr lang="en-US" dirty="0"/>
          </a:p>
        </p:txBody>
      </p:sp>
      <p:sp>
        <p:nvSpPr>
          <p:cNvPr id="14" name="B14"/>
          <p:cNvSpPr/>
          <p:nvPr/>
        </p:nvSpPr>
        <p:spPr>
          <a:xfrm>
            <a:off x="728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9: Pipeline + App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ep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Dataset Partition  &amp;  Step 6 — Data Modelling</a:t>
            </a:r>
            <a:endParaRPr lang="en-US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" name="B10"/>
          <p:cNvSpPr/>
          <p:nvPr/>
        </p:nvSpPr>
        <p:spPr>
          <a:xfrm>
            <a:off x="457200" y="1050000"/>
            <a:ext cx="3950000" cy="380000"/>
          </a:xfrm>
          <a:prstGeom prst="rect">
            <a:avLst/>
          </a:prstGeom>
          <a:solidFill>
            <a:srgbClr val="1A2E6B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Dataset Partition</a:t>
            </a:r>
            <a:endParaRPr lang="en-US" sz="1000" dirty="0"/>
          </a:p>
        </p:txBody>
      </p:sp>
      <p:sp>
        <p:nvSpPr>
          <p:cNvPr id="11" name="B11"/>
          <p:cNvSpPr/>
          <p:nvPr/>
        </p:nvSpPr>
        <p:spPr>
          <a:xfrm>
            <a:off x="457200" y="1437460"/>
            <a:ext cx="3950000" cy="321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t"/>
          <a:lstStyle/>
          <a:p>
            <a:pPr marL="228600" indent="-228600">
              <a:spcAft>
                <a:spcPts val="250"/>
              </a:spcAft>
              <a:buChar char="•"/>
            </a:pPr>
            <a:r>
              <a:rPr lang="en-US" sz="1050" b="1" dirty="0"/>
              <a:t>Data Splitting Approach:</a:t>
            </a:r>
            <a:r>
              <a:rPr lang="en-US" sz="1050" dirty="0"/>
              <a:t> Transactions were partitioned using a strict chronological and stratified 80/20 train/test distribution protocol based on unique customer profiles.</a:t>
            </a:r>
          </a:p>
          <a:p>
            <a:pPr marL="228600" indent="-228600">
              <a:spcAft>
                <a:spcPts val="250"/>
              </a:spcAft>
              <a:buChar char="•"/>
            </a:pPr>
            <a:r>
              <a:rPr lang="en-US" sz="1050" b="1" dirty="0"/>
              <a:t>Volume Distribution:  </a:t>
            </a:r>
            <a:r>
              <a:rPr lang="en-US" sz="1050" dirty="0"/>
              <a:t>Out of 5,878 unique customer records, 4,703 accounts were assigned to model training, leaving 1,175 profiles isolated for performance testing.</a:t>
            </a:r>
          </a:p>
          <a:p>
            <a:pPr marL="228600" indent="-228600">
              <a:spcAft>
                <a:spcPts val="250"/>
              </a:spcAft>
              <a:buChar char="•"/>
            </a:pPr>
            <a:r>
              <a:rPr lang="en-US" sz="1050" b="1" dirty="0"/>
              <a:t>Leakage and Variance Controls:</a:t>
            </a:r>
            <a:r>
              <a:rPr lang="en-US" sz="1050" dirty="0"/>
              <a:t> Stratified parameters ensure that baseline coupon redemption ratios are maintained across both slices, while cross-validation runs stabilize error testing. </a:t>
            </a:r>
          </a:p>
          <a:p>
            <a:pPr marL="228600" indent="-228600">
              <a:spcAft>
                <a:spcPts val="250"/>
              </a:spcAft>
              <a:buChar char="•"/>
            </a:pPr>
            <a:endParaRPr lang="en-US" sz="1050" b="1" dirty="0"/>
          </a:p>
        </p:txBody>
      </p:sp>
      <p:sp>
        <p:nvSpPr>
          <p:cNvPr id="30" name="B30"/>
          <p:cNvSpPr/>
          <p:nvPr/>
        </p:nvSpPr>
        <p:spPr>
          <a:xfrm>
            <a:off x="4650000" y="1050000"/>
            <a:ext cx="4036800" cy="38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Data Modelling</a:t>
            </a:r>
            <a:endParaRPr lang="en-US" sz="1000" dirty="0"/>
          </a:p>
        </p:txBody>
      </p:sp>
      <p:sp>
        <p:nvSpPr>
          <p:cNvPr id="31" name="B31"/>
          <p:cNvSpPr/>
          <p:nvPr/>
        </p:nvSpPr>
        <p:spPr>
          <a:xfrm>
            <a:off x="4656350" y="1440000"/>
            <a:ext cx="4036800" cy="321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t"/>
          <a:lstStyle/>
          <a:p>
            <a:pPr marL="228600" indent="-228600">
              <a:spcAft>
                <a:spcPts val="250"/>
              </a:spcAft>
              <a:buChar char="•"/>
            </a:pPr>
            <a:r>
              <a:rPr lang="en-US" sz="1050" b="1" dirty="0"/>
              <a:t>Algorithmic Strategies:</a:t>
            </a:r>
            <a:r>
              <a:rPr lang="en-US" sz="1050" dirty="0"/>
              <a:t> Tested baseline statistical models alongside multi-classifier causal machine learning architectures. </a:t>
            </a:r>
          </a:p>
          <a:p>
            <a:pPr marL="228600" indent="-228600">
              <a:spcAft>
                <a:spcPts val="250"/>
              </a:spcAft>
              <a:buChar char="•"/>
            </a:pPr>
            <a:r>
              <a:rPr lang="en-US" sz="1050" b="1" dirty="0"/>
              <a:t>Uplift Meta-Model Setup: </a:t>
            </a:r>
            <a:r>
              <a:rPr lang="en-US" sz="1050" dirty="0"/>
              <a:t>Implemented  a causal T-Learner architecture using two separate </a:t>
            </a:r>
            <a:r>
              <a:rPr lang="en-US" sz="1050" dirty="0" err="1"/>
              <a:t>xgboost.XGBClassifier</a:t>
            </a:r>
            <a:r>
              <a:rPr lang="en-US" sz="1050" dirty="0"/>
              <a:t> models to isolate treatment effects and calculate individual customer CATE values.</a:t>
            </a:r>
          </a:p>
          <a:p>
            <a:pPr marL="228600" indent="-228600">
              <a:spcAft>
                <a:spcPts val="250"/>
              </a:spcAft>
              <a:buChar char="•"/>
            </a:pPr>
            <a:r>
              <a:rPr lang="en-US" sz="1050" b="1" dirty="0"/>
              <a:t>Leakage Mitigation:</a:t>
            </a:r>
            <a:r>
              <a:rPr lang="en-US" sz="1050" dirty="0"/>
              <a:t> The entire feature processing and classification routine is bound via scikit-learn pipelines to ensure a clean separation between data slices. </a:t>
            </a:r>
            <a:endParaRPr lang="vi-VN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ep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Data Evaluation</a:t>
            </a:r>
            <a:endParaRPr lang="en-US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T10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9076691"/>
              </p:ext>
            </p:extLst>
          </p:nvPr>
        </p:nvGraphicFramePr>
        <p:xfrm>
          <a:off x="457200" y="1097280"/>
          <a:ext cx="8229600" cy="2849880"/>
        </p:xfrm>
        <a:graphic>
          <a:graphicData uri="http://schemas.openxmlformats.org/drawingml/2006/table">
            <a:tbl>
              <a:tblPr/>
              <a:tblGrid>
                <a:gridCol w="3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 (EN)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Ý nghĩa &amp; Khi nào dùng (VN)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The baseline Logistic Regression classifier achieved a validated performance of 70.92% accuracy on the test set.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/ Recall / F1-score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Tracked across the baseline model architecture to ensure stable class predictions across coupon redemption profiles.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AUC-ROC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Calculated for the baseline classification configuration to gauge basic class separation capacity on test data.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 Score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Not applicable (the optimization problem is structured around causal uplift classification rather than continuous numeric regression).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MSE / RMSE / MAE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with baseline paper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The T-Learner model achieved an Area Under Uplift Curve (AUUC) of -9.5090 vs. the Random Targeting baseline AUUC of -10.0581, yielding a +0.5491 </a:t>
                      </a:r>
                      <a:r>
                        <a:rPr lang="en-US" sz="1100" dirty="0" err="1"/>
                        <a:t>Qini</a:t>
                      </a:r>
                      <a:r>
                        <a:rPr lang="en-US" sz="1100" dirty="0"/>
                        <a:t> Gain. Fabricated report metrics were corrected via audit passes.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ep8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— Hyper-parameter Tuning  &amp;  Step 9 — Build Pipeline</a:t>
            </a:r>
            <a:endParaRPr lang="en-US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10"/>
          <p:cNvSpPr/>
          <p:nvPr/>
        </p:nvSpPr>
        <p:spPr>
          <a:xfrm>
            <a:off x="457200" y="1050000"/>
            <a:ext cx="3950000" cy="380000"/>
          </a:xfrm>
          <a:prstGeom prst="rect">
            <a:avLst/>
          </a:prstGeom>
          <a:solidFill>
            <a:srgbClr val="065F46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Hyper-parameter Tuning</a:t>
            </a:r>
            <a:endParaRPr lang="en-US" sz="1000" dirty="0"/>
          </a:p>
        </p:txBody>
      </p:sp>
      <p:sp>
        <p:nvSpPr>
          <p:cNvPr id="11" name="B11"/>
          <p:cNvSpPr/>
          <p:nvPr/>
        </p:nvSpPr>
        <p:spPr>
          <a:xfrm>
            <a:off x="457200" y="1440000"/>
            <a:ext cx="3950000" cy="326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t"/>
          <a:lstStyle/>
          <a:p>
            <a:pPr marL="228600" indent="-228600">
              <a:spcAft>
                <a:spcPts val="250"/>
              </a:spcAft>
              <a:buChar char="•"/>
            </a:pPr>
            <a:r>
              <a:rPr lang="en-US" sz="1050" b="1" dirty="0"/>
              <a:t>Validation Mechanics:</a:t>
            </a:r>
            <a:r>
              <a:rPr lang="en-US" sz="1050" dirty="0"/>
              <a:t> Utilized K-Fold cross-validation runs to generate unbiased estimations of out-of-sample generalization errors</a:t>
            </a:r>
          </a:p>
          <a:p>
            <a:pPr marL="228600" indent="-228600">
              <a:spcAft>
                <a:spcPts val="250"/>
              </a:spcAft>
              <a:buChar char="•"/>
            </a:pPr>
            <a:r>
              <a:rPr lang="en-US" sz="1050" b="1" dirty="0"/>
              <a:t>Parameter Optimization: </a:t>
            </a:r>
            <a:r>
              <a:rPr lang="en-US" sz="1050" dirty="0"/>
              <a:t>Conducted parameter optimization passes over the tree and scaling spaces to tune learning mechanics</a:t>
            </a:r>
          </a:p>
          <a:p>
            <a:pPr marL="228600" indent="-228600">
              <a:spcAft>
                <a:spcPts val="250"/>
              </a:spcAft>
              <a:buChar char="•"/>
            </a:pPr>
            <a:r>
              <a:rPr lang="en-US" sz="1050" b="1" dirty="0"/>
              <a:t>Overfitting Safeguards: </a:t>
            </a:r>
            <a:r>
              <a:rPr lang="en-US" sz="1050" dirty="0"/>
              <a:t>Controlled using regularization and tree depth thresholds within </a:t>
            </a:r>
            <a:r>
              <a:rPr lang="en-US" sz="1050" dirty="0" err="1"/>
              <a:t>XGBoost</a:t>
            </a:r>
            <a:r>
              <a:rPr lang="en-US" sz="1050" dirty="0"/>
              <a:t> to prevent memorization of noise in the training attributes.</a:t>
            </a:r>
            <a:endParaRPr lang="en-US" sz="1050" b="1" dirty="0"/>
          </a:p>
        </p:txBody>
      </p:sp>
      <p:sp>
        <p:nvSpPr>
          <p:cNvPr id="30" name="B30"/>
          <p:cNvSpPr/>
          <p:nvPr/>
        </p:nvSpPr>
        <p:spPr>
          <a:xfrm>
            <a:off x="4650000" y="1050000"/>
            <a:ext cx="4036800" cy="380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Build Best Pipeline</a:t>
            </a:r>
            <a:endParaRPr lang="en-US" sz="1000" dirty="0"/>
          </a:p>
        </p:txBody>
      </p:sp>
      <p:sp>
        <p:nvSpPr>
          <p:cNvPr id="31" name="B31"/>
          <p:cNvSpPr/>
          <p:nvPr/>
        </p:nvSpPr>
        <p:spPr>
          <a:xfrm>
            <a:off x="4650000" y="1440000"/>
            <a:ext cx="4036800" cy="326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t"/>
          <a:lstStyle/>
          <a:p>
            <a:pPr marL="228600" indent="-228600">
              <a:spcAft>
                <a:spcPts val="250"/>
              </a:spcAft>
              <a:buChar char="•"/>
            </a:pPr>
            <a:r>
              <a:rPr lang="en-US" sz="1050" b="1" dirty="0"/>
              <a:t>Pipeline Consolidation:</a:t>
            </a:r>
            <a:r>
              <a:rPr lang="en-US" sz="1050" dirty="0"/>
              <a:t> Bound the best preprocessing steps and tuned </a:t>
            </a:r>
            <a:r>
              <a:rPr lang="en-US" sz="1050" dirty="0" err="1"/>
              <a:t>XGBoost</a:t>
            </a:r>
            <a:r>
              <a:rPr lang="en-US" sz="1050" dirty="0"/>
              <a:t> classifiers into a unified scikit-learn pipeline object</a:t>
            </a:r>
          </a:p>
          <a:p>
            <a:pPr marL="228600" indent="-228600">
              <a:spcAft>
                <a:spcPts val="250"/>
              </a:spcAft>
              <a:buChar char="•"/>
            </a:pPr>
            <a:r>
              <a:rPr lang="en-US" sz="1050" b="1" dirty="0"/>
              <a:t>Leakage Protections: </a:t>
            </a:r>
            <a:r>
              <a:rPr lang="en-US" sz="1050" dirty="0"/>
              <a:t>Configured feature transformations to fit only on the training slice, standardizing the test data downstream.</a:t>
            </a:r>
          </a:p>
          <a:p>
            <a:pPr marL="228600" indent="-228600">
              <a:spcAft>
                <a:spcPts val="250"/>
              </a:spcAft>
              <a:buChar char="•"/>
            </a:pPr>
            <a:r>
              <a:rPr lang="en-US" sz="1050" b="1" dirty="0"/>
              <a:t>Export Application Interface: </a:t>
            </a:r>
            <a:r>
              <a:rPr lang="en-US" sz="1050" dirty="0"/>
              <a:t>Saved the complete pipeline container via </a:t>
            </a:r>
            <a:r>
              <a:rPr lang="en-US" sz="1050" dirty="0" err="1"/>
              <a:t>joblib</a:t>
            </a:r>
            <a:r>
              <a:rPr lang="en-US" sz="1050" dirty="0"/>
              <a:t> serialization (</a:t>
            </a:r>
            <a:r>
              <a:rPr lang="en-US" sz="1050" dirty="0" err="1"/>
              <a:t>best_model.pkl</a:t>
            </a:r>
            <a:r>
              <a:rPr lang="en-US" sz="1050" dirty="0"/>
              <a:t>), using a Flask API file for live scoring endpoints</a:t>
            </a:r>
            <a:endParaRPr lang="vi-VN" sz="1050" b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p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AI Services &amp; Develop Application</a:t>
            </a:r>
            <a:endParaRPr lang="en-US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T11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6922456"/>
              </p:ext>
            </p:extLst>
          </p:nvPr>
        </p:nvGraphicFramePr>
        <p:xfrm>
          <a:off x="457200" y="1097280"/>
          <a:ext cx="8229600" cy="2842260"/>
        </p:xfrm>
        <a:graphic>
          <a:graphicData uri="http://schemas.openxmlformats.org/drawingml/2006/table">
            <a:tbl>
              <a:tblPr/>
              <a:tblGrid>
                <a:gridCol w="30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build (EN)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Hướng dẫn chi tiết (VN)</a:t>
                      </a:r>
                      <a:endParaRPr lang="en-US" sz="12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service integration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Core inference pipelines are exposed via a Flask REST API (app.py), enabling live consumption of individual customer CATE scores.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 architecture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Execution topology follows: Raw Transactions --&gt; RFM Preprocessing Pipeline  --&gt;  Causal T-Learner Meta-Model  --&gt;  Flask REST API Layer  --&gt;  UI Engine. </a:t>
                      </a:r>
                      <a:endParaRPr lang="vi-V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features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Performs transaction log digestion, automated pipeline parsing, live individual CATE scoring, and outputs targeted campaign allocation lists.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integration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The </a:t>
                      </a:r>
                      <a:r>
                        <a:rPr lang="en-US" sz="1100" dirty="0" err="1"/>
                        <a:t>Streamlit</a:t>
                      </a:r>
                      <a:r>
                        <a:rPr lang="en-US" sz="1100" dirty="0"/>
                        <a:t> application UI contains an interactive "What-If" business simulator for mapping unit voucher costs against margin parameters.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demo required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App code contains functional interfaces to process transaction files during live evaluation runs.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RBL + AI Audit Log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00" dirty="0"/>
                        <a:t>Flask and </a:t>
                      </a:r>
                      <a:r>
                        <a:rPr lang="en-US" sz="1100" dirty="0" err="1"/>
                        <a:t>Streamlit</a:t>
                      </a:r>
                      <a:r>
                        <a:rPr lang="en-US" sz="1100" dirty="0"/>
                        <a:t> were selected to fulfill rapid integration needs. Manual code additions and pipeline controls are verified in the prompt log. </a:t>
                      </a:r>
                      <a:endParaRPr lang="vi-VN" sz="11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4Div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endParaRPr lang="en-US"/>
          </a:p>
        </p:txBody>
      </p:sp>
      <p:sp>
        <p:nvSpPr>
          <p:cNvPr id="3" name="B3"/>
          <p:cNvSpPr/>
          <p:nvPr/>
        </p:nvSpPr>
        <p:spPr>
          <a:xfrm>
            <a:off x="0" y="1200000"/>
            <a:ext cx="9144000" cy="5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dirty="0"/>
          </a:p>
        </p:txBody>
      </p:sp>
      <p:sp>
        <p:nvSpPr>
          <p:cNvPr id="4" name="B4"/>
          <p:cNvSpPr/>
          <p:nvPr/>
        </p:nvSpPr>
        <p:spPr>
          <a:xfrm>
            <a:off x="400000" y="1780000"/>
            <a:ext cx="8344000" cy="900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AI Reflection  (Step 10 + Q&amp;A)</a:t>
            </a:r>
            <a:endParaRPr lang="en-US" dirty="0"/>
          </a:p>
        </p:txBody>
      </p:sp>
      <p:sp>
        <p:nvSpPr>
          <p:cNvPr id="10" name="B10"/>
          <p:cNvSpPr/>
          <p:nvPr/>
        </p:nvSpPr>
        <p:spPr>
          <a:xfrm>
            <a:off x="32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10: Conclusion</a:t>
            </a:r>
            <a:endParaRPr lang="en-US" dirty="0"/>
          </a:p>
        </p:txBody>
      </p:sp>
      <p:sp>
        <p:nvSpPr>
          <p:cNvPr id="11" name="B11"/>
          <p:cNvSpPr/>
          <p:nvPr/>
        </p:nvSpPr>
        <p:spPr>
          <a:xfrm>
            <a:off x="206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Audit Log (15-20 Prompts)</a:t>
            </a:r>
            <a:endParaRPr lang="en-US" dirty="0"/>
          </a:p>
        </p:txBody>
      </p:sp>
      <p:sp>
        <p:nvSpPr>
          <p:cNvPr id="12" name="B12"/>
          <p:cNvSpPr/>
          <p:nvPr/>
        </p:nvSpPr>
        <p:spPr>
          <a:xfrm>
            <a:off x="380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Delta</a:t>
            </a:r>
            <a:endParaRPr lang="en-US" dirty="0"/>
          </a:p>
        </p:txBody>
      </p:sp>
      <p:sp>
        <p:nvSpPr>
          <p:cNvPr id="13" name="B13"/>
          <p:cNvSpPr/>
          <p:nvPr/>
        </p:nvSpPr>
        <p:spPr>
          <a:xfrm>
            <a:off x="554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(&gt;=3)</a:t>
            </a:r>
            <a:endParaRPr lang="en-US" dirty="0"/>
          </a:p>
        </p:txBody>
      </p:sp>
      <p:sp>
        <p:nvSpPr>
          <p:cNvPr id="14" name="B14"/>
          <p:cNvSpPr/>
          <p:nvPr/>
        </p:nvSpPr>
        <p:spPr>
          <a:xfrm>
            <a:off x="7282000" y="2900000"/>
            <a:ext cx="1700000" cy="450000"/>
          </a:xfrm>
          <a:prstGeom prst="rect">
            <a:avLst/>
          </a:prstGeom>
          <a:solidFill>
            <a:srgbClr val="FFFFFF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Self-Assessment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ep10Q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— Conclusion  +  Q&amp;A + AI Reflection  (20 points)</a:t>
            </a:r>
            <a:endParaRPr lang="en-US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B10"/>
          <p:cNvSpPr/>
          <p:nvPr/>
        </p:nvSpPr>
        <p:spPr>
          <a:xfrm>
            <a:off x="457200" y="1060000"/>
            <a:ext cx="2700000" cy="4600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10: Conclusion</a:t>
            </a:r>
            <a:endParaRPr lang="en-US" dirty="0"/>
          </a:p>
        </p:txBody>
      </p:sp>
      <p:sp>
        <p:nvSpPr>
          <p:cNvPr id="11" name="B11"/>
          <p:cNvSpPr/>
          <p:nvPr/>
        </p:nvSpPr>
        <p:spPr>
          <a:xfrm>
            <a:off x="457200" y="1530000"/>
            <a:ext cx="2700000" cy="321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t"/>
          <a:lstStyle/>
          <a:p>
            <a:pPr marL="228600" indent="-228600">
              <a:spcAft>
                <a:spcPts val="320"/>
              </a:spcAft>
              <a:buChar char="•"/>
            </a:pPr>
            <a:r>
              <a:rPr lang="en-US" sz="1100" b="1" dirty="0"/>
              <a:t>Research Framework Resolution:</a:t>
            </a:r>
            <a:r>
              <a:rPr lang="en-US" sz="1100" dirty="0"/>
              <a:t> Confirmed that behavioral scoring isolates consumer engagement, and proved that a T-Learner framework provides a validated +0.5491 </a:t>
            </a:r>
            <a:r>
              <a:rPr lang="en-US" sz="1100" dirty="0" err="1"/>
              <a:t>Qini</a:t>
            </a:r>
            <a:r>
              <a:rPr lang="en-US" sz="1100" dirty="0"/>
              <a:t> targeting gain over random campaigns.</a:t>
            </a:r>
          </a:p>
          <a:p>
            <a:pPr marL="228600" indent="-228600">
              <a:spcAft>
                <a:spcPts val="320"/>
              </a:spcAft>
              <a:buChar char="•"/>
            </a:pPr>
            <a:r>
              <a:rPr lang="en-US" sz="1100" b="1" dirty="0"/>
              <a:t>Operational Selection:</a:t>
            </a:r>
            <a:r>
              <a:rPr lang="en-US" sz="1100" dirty="0"/>
              <a:t> The causal T-Learner engine containing dual </a:t>
            </a:r>
            <a:r>
              <a:rPr lang="en-US" sz="1100" dirty="0" err="1"/>
              <a:t>XGBoost</a:t>
            </a:r>
            <a:r>
              <a:rPr lang="en-US" sz="1100" dirty="0"/>
              <a:t> pipelines is selected as the optimal target engine</a:t>
            </a:r>
          </a:p>
          <a:p>
            <a:pPr marL="228600" indent="-228600">
              <a:spcAft>
                <a:spcPts val="320"/>
              </a:spcAft>
              <a:buChar char="•"/>
            </a:pPr>
            <a:r>
              <a:rPr lang="en-US" sz="1100" b="1" dirty="0"/>
              <a:t>Domain Impact:</a:t>
            </a:r>
            <a:r>
              <a:rPr lang="en-US" sz="1100" dirty="0"/>
              <a:t> Shifts marketing strategies from blanket promotion campaigns to precision targeting of "Persuadable" customer units to save capital.</a:t>
            </a:r>
            <a:endParaRPr lang="vi-VN" sz="110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15" name="B15"/>
          <p:cNvSpPr/>
          <p:nvPr/>
        </p:nvSpPr>
        <p:spPr>
          <a:xfrm>
            <a:off x="3214200" y="1060000"/>
            <a:ext cx="2700000" cy="460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Audit Log</a:t>
            </a:r>
            <a:endParaRPr lang="en-US" dirty="0"/>
          </a:p>
        </p:txBody>
      </p:sp>
      <p:sp>
        <p:nvSpPr>
          <p:cNvPr id="16" name="B16"/>
          <p:cNvSpPr/>
          <p:nvPr/>
        </p:nvSpPr>
        <p:spPr>
          <a:xfrm>
            <a:off x="3214200" y="1530000"/>
            <a:ext cx="2700000" cy="321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t"/>
          <a:lstStyle/>
          <a:p>
            <a:pPr marL="228600" indent="-228600">
              <a:spcAft>
                <a:spcPts val="320"/>
              </a:spcAft>
              <a:buChar char="•"/>
            </a:pPr>
            <a:r>
              <a:rPr lang="en-US" sz="1100" b="1" dirty="0"/>
              <a:t>Log Structure Summary:</a:t>
            </a:r>
            <a:r>
              <a:rPr lang="en-US" sz="1100" dirty="0"/>
              <a:t> Compiled a comprehensive log featuring 15-20 core development prompts across 4 sheets in an Excel workbook. </a:t>
            </a:r>
            <a:r>
              <a:rPr lang="en-US" sz="1100" b="1" dirty="0"/>
              <a:t>. </a:t>
            </a:r>
          </a:p>
          <a:p>
            <a:pPr marL="228600" indent="-228600">
              <a:spcAft>
                <a:spcPts val="320"/>
              </a:spcAft>
              <a:buChar char="•"/>
            </a:pPr>
            <a:r>
              <a:rPr lang="en-US" sz="1100" b="1" dirty="0"/>
              <a:t>Hallucination Interventions:</a:t>
            </a:r>
            <a:r>
              <a:rPr lang="en-US" sz="1100" dirty="0"/>
              <a:t> Successfully flagged and fixed 3 major AI-generated metric hallucinations, manually overriding a false 98.61% accuracy claim with verified test results (70.92%).</a:t>
            </a:r>
            <a:endParaRPr lang="en-US" sz="1100" b="1" dirty="0"/>
          </a:p>
          <a:p>
            <a:pPr marL="228600" indent="-228600">
              <a:spcAft>
                <a:spcPts val="320"/>
              </a:spcAft>
              <a:buChar char="•"/>
            </a:pPr>
            <a:endParaRPr lang="vi-VN" sz="1100" b="1" dirty="0"/>
          </a:p>
        </p:txBody>
      </p:sp>
      <p:sp>
        <p:nvSpPr>
          <p:cNvPr id="20" name="B20"/>
          <p:cNvSpPr/>
          <p:nvPr/>
        </p:nvSpPr>
        <p:spPr>
          <a:xfrm>
            <a:off x="5971200" y="1060000"/>
            <a:ext cx="2700000" cy="460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Delta</a:t>
            </a:r>
            <a:endParaRPr lang="en-US" dirty="0"/>
          </a:p>
        </p:txBody>
      </p:sp>
      <p:sp>
        <p:nvSpPr>
          <p:cNvPr id="21" name="B21"/>
          <p:cNvSpPr/>
          <p:nvPr/>
        </p:nvSpPr>
        <p:spPr>
          <a:xfrm>
            <a:off x="5986800" y="1520000"/>
            <a:ext cx="2700000" cy="3210000"/>
          </a:xfrm>
          <a:prstGeom prst="rect">
            <a:avLst/>
          </a:prstGeom>
          <a:solidFill>
            <a:srgbClr val="F8FAFC"/>
          </a:solidFill>
          <a:ln w="9525">
            <a:solidFill>
              <a:srgbClr val="C5CAE9"/>
            </a:solidFill>
          </a:ln>
        </p:spPr>
        <p:txBody>
          <a:bodyPr wrap="square" lIns="91440" tIns="45720" rIns="91440" bIns="45720" rtlCol="0" anchor="t"/>
          <a:lstStyle/>
          <a:p>
            <a:pPr marL="228600" indent="-228600">
              <a:spcAft>
                <a:spcPts val="320"/>
              </a:spcAft>
              <a:buChar char="•"/>
            </a:pPr>
            <a:r>
              <a:rPr lang="en-US" sz="1100" dirty="0"/>
              <a:t> </a:t>
            </a:r>
            <a:r>
              <a:rPr lang="en-US" sz="1100" b="1" dirty="0"/>
              <a:t>Independent Synthesis:</a:t>
            </a:r>
            <a:r>
              <a:rPr lang="en-US" sz="1100" dirty="0"/>
              <a:t> The student team manually re-mapped the project definition away from high-leakage continuous models toward a causal uplift structure.</a:t>
            </a:r>
          </a:p>
          <a:p>
            <a:pPr marL="228600" indent="-228600">
              <a:spcAft>
                <a:spcPts val="320"/>
              </a:spcAft>
              <a:buChar char="•"/>
            </a:pPr>
            <a:r>
              <a:rPr lang="en-US" sz="1100" b="1" dirty="0"/>
              <a:t>Code Quality Control:</a:t>
            </a:r>
            <a:r>
              <a:rPr lang="en-US" sz="1100" dirty="0"/>
              <a:t> Manually updated developer file paths to handle relative loading and rewrote the </a:t>
            </a:r>
            <a:r>
              <a:rPr lang="en-US" sz="1100" dirty="0" err="1"/>
              <a:t>Streamlit</a:t>
            </a:r>
            <a:r>
              <a:rPr lang="en-US" sz="1100" dirty="0"/>
              <a:t> financial simulator math independent of AI outputs. </a:t>
            </a:r>
            <a:endParaRPr lang="vi-VN" sz="1100" dirty="0">
              <a:solidFill>
                <a:srgbClr val="1E293B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50" name="Body"/>
          <p:cNvSpPr/>
          <p:nvPr/>
        </p:nvSpPr>
        <p:spPr>
          <a:xfrm>
            <a:off x="457200" y="4830000"/>
            <a:ext cx="8229600" cy="3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vi-VN" sz="12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session: Giảng viên hỏi về kết quả, lý do chọn method, AI Audit Log, Human Delta. Mỗi thành viên phải trả lời được ít nhất 1 câu.</a:t>
            </a:r>
            <a:endParaRPr lang="vi-VN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QATi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 Preparation &amp; Time Management</a:t>
            </a:r>
            <a:endParaRPr lang="en-US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Body"/>
          <p:cNvSpPr/>
          <p:nvPr/>
        </p:nvSpPr>
        <p:spPr>
          <a:xfrm>
            <a:off x="457200" y="1051560"/>
            <a:ext cx="822960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vi-VN" sz="17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 Q&amp;A — lưu ý quan trọng:</a:t>
            </a:r>
            <a:endParaRPr lang="vi-VN" sz="1700" dirty="0"/>
          </a:p>
          <a:p>
            <a:pPr>
              <a:spcAft>
                <a:spcPts val="200"/>
              </a:spcAft>
              <a:buNone/>
            </a:pPr>
            <a:endParaRPr lang="en-US" sz="15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member must understand ALL 10 steps, not only their own section</a:t>
            </a:r>
            <a:endParaRPr lang="en-US" sz="14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ready to explain: 'Why this model?' 'Why this chart?' 'What does the metric mean?'</a:t>
            </a:r>
            <a:endParaRPr lang="en-US" sz="14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Audit Log must be present and ready to show when asked by the examiner</a:t>
            </a:r>
            <a:endParaRPr lang="en-US" sz="14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AI was wrong (Step 7 metrics, Step 4 technique), explain how your team fixed it</a:t>
            </a:r>
            <a:endParaRPr lang="en-US" sz="14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ALL findings back to the 3 Research Questions from Step 1</a:t>
            </a:r>
            <a:endParaRPr lang="en-US" sz="1400" dirty="0"/>
          </a:p>
          <a:p>
            <a:pPr>
              <a:spcAft>
                <a:spcPts val="200"/>
              </a:spcAft>
              <a:buNone/>
            </a:pPr>
            <a:endParaRPr lang="en-US" sz="200" dirty="0"/>
          </a:p>
          <a:p>
            <a:pPr marL="0" indent="0" algn="l">
              <a:spcAft>
                <a:spcPts val="300"/>
              </a:spcAft>
              <a:buNone/>
            </a:pPr>
            <a:r>
              <a:rPr lang="vi-VN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Thời gian trình bày tối đa:</a:t>
            </a:r>
            <a:endParaRPr lang="vi-VN" sz="16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1A2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(Steps 1-2-3 + SQL):           8-10 minutes</a:t>
            </a:r>
            <a:endParaRPr lang="en-US" sz="14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(Steps 3-4 Viz + Dashboard):    5-7 minutes</a:t>
            </a:r>
            <a:endParaRPr lang="en-US" sz="14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 (Steps 5-6-7-8-9 + App):       8-10 minutes</a:t>
            </a:r>
            <a:endParaRPr lang="en-US" sz="1400" dirty="0"/>
          </a:p>
          <a:p>
            <a:pPr marL="342900" indent="-342900">
              <a:spcAft>
                <a:spcPts val="350"/>
              </a:spcAft>
              <a:buSzPct val="100000"/>
              <a:buChar char="•"/>
            </a:pPr>
            <a:r>
              <a:rPr lang="en-US" sz="1400" dirty="0">
                <a:solidFill>
                  <a:srgbClr val="6B21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(Step 10 + Q&amp;A + AI Reflection):  5-7 minutes</a:t>
            </a:r>
            <a:endParaRPr lang="en-US" sz="1400" dirty="0"/>
          </a:p>
          <a:p>
            <a:pPr marL="0" indent="0" algn="ctr">
              <a:spcAft>
                <a:spcPts val="300"/>
              </a:spcAft>
              <a:buNone/>
            </a:pPr>
            <a:r>
              <a:rPr lang="en-US" sz="16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 &lt;=  35 minutes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br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Rubrics Overview — DAP391m Final Project</a:t>
            </a:r>
            <a:endParaRPr lang="en-US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Ru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790766"/>
              </p:ext>
            </p:extLst>
          </p:nvPr>
        </p:nvGraphicFramePr>
        <p:xfrm>
          <a:off x="457200" y="1097280"/>
          <a:ext cx="8229600" cy="3566160"/>
        </p:xfrm>
        <a:graphic>
          <a:graphicData uri="http://schemas.openxmlformats.org/drawingml/2006/table">
            <a:tbl>
              <a:tblPr/>
              <a:tblGrid>
                <a:gridCol w="3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2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 Criteria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 Points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Hướng dẫn AI Audit (VN)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Report (LaTeX + Slides)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pts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050" dirty="0"/>
                        <a:t>Tracked prompts detailing report compilation and structural layout adjustments. </a:t>
                      </a:r>
                      <a:endParaRPr lang="vi-VN" sz="10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Understanding + Data Prep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pts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050" dirty="0"/>
                        <a:t>Logs domain profiling, clean queries, and schema definition checks. </a:t>
                      </a:r>
                      <a:endParaRPr lang="vi-VN" sz="10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Analysis with Python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pts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050" dirty="0"/>
                        <a:t>Records the construction of RFM transformations and statistical data profiling. </a:t>
                      </a:r>
                      <a:endParaRPr lang="vi-VN" sz="10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Visualization in Advanced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pts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050" dirty="0"/>
                        <a:t>Logs design paths for dashboard interfaces and graph insight outputs. </a:t>
                      </a:r>
                      <a:endParaRPr lang="vi-VN" sz="10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Model for Prediction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pts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050" dirty="0"/>
                        <a:t>Documents the optimization of classification routines against random targeting baselines. </a:t>
                      </a:r>
                      <a:endParaRPr lang="vi-VN" sz="10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Integrating AI Services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pts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050" dirty="0"/>
                        <a:t>Tracks configuration steps for the REST API endpoints and payload formats. </a:t>
                      </a:r>
                      <a:endParaRPr lang="vi-VN" sz="10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 AI-Powered Application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pts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050" dirty="0"/>
                        <a:t>Records the integration of user controls and manual code overrides. </a:t>
                      </a:r>
                      <a:endParaRPr lang="vi-VN" sz="10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Q&amp;A + AI Reflection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1F386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pts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050" dirty="0"/>
                        <a:t>Validates prompt logs, human delta entries, and hallucination handling. </a:t>
                      </a:r>
                      <a:endParaRPr lang="vi-VN" sz="10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0F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delCom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6-7 — Model Comparison Template</a:t>
            </a:r>
            <a:endParaRPr lang="en-US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T3130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3907020"/>
              </p:ext>
            </p:extLst>
          </p:nvPr>
        </p:nvGraphicFramePr>
        <p:xfrm>
          <a:off x="444499" y="1097280"/>
          <a:ext cx="8362949" cy="2419350"/>
        </p:xfrm>
        <a:graphic>
          <a:graphicData uri="http://schemas.openxmlformats.org/drawingml/2006/table">
            <a:tbl>
              <a:tblPr/>
              <a:tblGrid>
                <a:gridCol w="2235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31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2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4454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/ Accuracy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/ F1-score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 / AUC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Baseline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1"/>
                  </a:ext>
                </a:extLst>
              </a:tr>
              <a:tr h="54356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200" dirty="0"/>
                        <a:t>Uplift </a:t>
                      </a:r>
                      <a:r>
                        <a:rPr lang="en-US" sz="1200" dirty="0" err="1"/>
                        <a:t>XGBoost</a:t>
                      </a:r>
                      <a:r>
                        <a:rPr lang="en-US" sz="1200" dirty="0"/>
                        <a:t> T-Learner 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200" dirty="0"/>
                        <a:t>AUUC: -9.5090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Qini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Gain: +0.5491</a:t>
                      </a:r>
                    </a:p>
                    <a:p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N/A (Causal Model)</a:t>
                      </a:r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200" dirty="0"/>
                        <a:t>+88.30% (AUUC)</a:t>
                      </a:r>
                      <a:endParaRPr lang="en-US" sz="1150" dirty="0"/>
                    </a:p>
                  </a:txBody>
                  <a:tcPr anchor="ctr">
                    <a:lnL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5"/>
                  </a:ext>
                </a:extLst>
              </a:tr>
              <a:tr h="72644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200" dirty="0"/>
                        <a:t>Logistic Regression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200" dirty="0"/>
                        <a:t>Accuracy: 70.92%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200" dirty="0"/>
                        <a:t>F1-score: 65.48%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200" dirty="0"/>
                        <a:t>AUC-ROC: 72.15%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 cap="flat" cmpd="sng" algn="ctr">
                      <a:solidFill>
                        <a:srgbClr val="C5CA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200" dirty="0"/>
                        <a:t>N/A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6"/>
                  </a:ext>
                </a:extLst>
              </a:tr>
              <a:tr h="69215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200" dirty="0"/>
                        <a:t>Baseline (Random Targeting)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200"/>
                        <a:t>AUUC: -10.0581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200" dirty="0"/>
                        <a:t>N/A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200" dirty="0"/>
                        <a:t>N/A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200" dirty="0"/>
                        <a:t>Baseline </a:t>
                      </a:r>
                      <a:r>
                        <a:rPr lang="en-US" sz="1200" dirty="0" err="1"/>
                        <a:t>chuẩn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7"/>
                  </a:ext>
                </a:extLst>
              </a:tr>
            </a:tbl>
          </a:graphicData>
        </a:graphic>
      </p:graphicFrame>
      <p:sp>
        <p:nvSpPr>
          <p:cNvPr id="50" name="Body"/>
          <p:cNvSpPr/>
          <p:nvPr/>
        </p:nvSpPr>
        <p:spPr>
          <a:xfrm>
            <a:off x="457200" y="4700000"/>
            <a:ext cx="8229600" cy="4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spcAft>
                <a:spcPts val="300"/>
              </a:spcAft>
              <a:buNone/>
            </a:pPr>
            <a:r>
              <a:rPr lang="vi-VN" sz="1200" i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Highlight hàng tốt nhất màu xanh. Giải thích tại sao mô hình đó tốt hơn baseline. RMSE/MAE: thấp tốt; R2/Accuracy/AUC: cao tốt.</a:t>
            </a:r>
            <a:endParaRPr lang="vi-VN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heck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"/>
          <p:cNvSpPr/>
          <p:nvPr/>
        </p:nvSpPr>
        <p:spPr>
          <a:xfrm>
            <a:off x="457200" y="1828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— Before the Presentation</a:t>
            </a:r>
            <a:endParaRPr lang="en-US" sz="2800" dirty="0"/>
          </a:p>
        </p:txBody>
      </p:sp>
      <p:sp>
        <p:nvSpPr>
          <p:cNvPr id="3" name="Div"/>
          <p:cNvSpPr/>
          <p:nvPr/>
        </p:nvSpPr>
        <p:spPr>
          <a:xfrm>
            <a:off x="457200" y="960120"/>
            <a:ext cx="8229600" cy="0"/>
          </a:xfrm>
          <a:prstGeom prst="line">
            <a:avLst/>
          </a:prstGeom>
          <a:noFill/>
          <a:ln w="19050">
            <a:solidFill>
              <a:srgbClr val="4472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4" name="T314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057685"/>
              </p:ext>
            </p:extLst>
          </p:nvPr>
        </p:nvGraphicFramePr>
        <p:xfrm>
          <a:off x="457200" y="1097280"/>
          <a:ext cx="8229600" cy="3474720"/>
        </p:xfrm>
        <a:graphic>
          <a:graphicData uri="http://schemas.openxmlformats.org/drawingml/2006/table">
            <a:tbl>
              <a:tblPr/>
              <a:tblGrid>
                <a:gridCol w="55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Checklist item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1F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1-2: Problem &amp; Data Understanding documented (Feature/Target/Metrics)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 Done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3-4: EDA charts + Feature Engineering notebook — re-runnable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 Done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queries: group size x 3 (min 5) — each links to an RQ (</a:t>
                      </a:r>
                      <a:r>
                        <a:rPr lang="en-US" sz="1150" dirty="0" err="1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</a:t>
                      </a: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bắt</a:t>
                      </a: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buộc</a:t>
                      </a:r>
                      <a:r>
                        <a:rPr lang="en-US" sz="115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 Done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5: Imbalanced handling + proper train/test split (stratified)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 Done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6: Compared &gt;= 5 ML models on same train/test split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 Done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7: Metrics table with baseline paper comparison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 Done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8: GridSearchCV / CV tuning applied to best model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 Done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9: sklearn Pipeline saved (no data leakage)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 Done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service integrated + dashboard demo-able live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 Done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 10: Conclusion answers all 3 RQs with evidence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 Done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Audit Log: 15-20 prompts, &gt;= 3 hallucinations, Human Delta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 Done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EEF2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presentation time &lt;= 35 minutes (rehearsed)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91440" indent="0" algn="l">
                        <a:buNone/>
                      </a:pPr>
                      <a:r>
                        <a:rPr lang="en-US" sz="1150" dirty="0">
                          <a:solidFill>
                            <a:srgbClr val="2C2C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 ] Done</a:t>
                      </a:r>
                      <a:endParaRPr lang="en-US" sz="1150" dirty="0"/>
                    </a:p>
                  </a:txBody>
                  <a:tcPr anchor="ctr">
                    <a:lnL w="6350">
                      <a:solidFill>
                        <a:srgbClr val="C5CAE9"/>
                      </a:solidFill>
                      <a:prstDash val="solid"/>
                    </a:lnL>
                    <a:lnR w="6350">
                      <a:solidFill>
                        <a:srgbClr val="C5CAE9"/>
                      </a:solidFill>
                      <a:prstDash val="solid"/>
                    </a:lnR>
                    <a:lnT w="6350">
                      <a:solidFill>
                        <a:srgbClr val="C5CAE9"/>
                      </a:solidFill>
                      <a:prstDash val="solid"/>
                    </a:lnT>
                    <a:lnB w="6350">
                      <a:solidFill>
                        <a:srgbClr val="C5CAE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fake-beamer">
  <a:themeElements>
    <a:clrScheme name="BeamerBlu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331B4"/>
      </a:accent1>
      <a:accent2>
        <a:srgbClr val="26268C"/>
      </a:accent2>
      <a:accent3>
        <a:srgbClr val="1C1B67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amer" id="{99E1F896-D2CB-2744-898B-231E70ADB72B}" vid="{6D0C7D28-E11F-0F48-8979-25ECC394847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fake-beamer</Template>
  <TotalTime>1653</TotalTime>
  <Words>2913</Words>
  <Application>Microsoft Office PowerPoint</Application>
  <PresentationFormat>On-screen Show (16:9)</PresentationFormat>
  <Paragraphs>320</Paragraphs>
  <Slides>22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CMU Sans Serif Medium</vt:lpstr>
      <vt:lpstr>Arial</vt:lpstr>
      <vt:lpstr>Calibri</vt:lpstr>
      <vt:lpstr>fake-beamer</vt:lpstr>
      <vt:lpstr>Uplift Modeling and RFM-Driven Coupon Optimization System for Online Retail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Bài 1: Giới thiệu về Máy tính</dc:title>
  <dc:subject>PptxGenJS Presentation</dc:subject>
  <dc:creator>Nhat-Tung Le</dc:creator>
  <cp:lastModifiedBy>nhat pham</cp:lastModifiedBy>
  <cp:revision>44</cp:revision>
  <dcterms:created xsi:type="dcterms:W3CDTF">2026-05-01T11:03:29Z</dcterms:created>
  <dcterms:modified xsi:type="dcterms:W3CDTF">2026-06-15T05:23:24Z</dcterms:modified>
</cp:coreProperties>
</file>